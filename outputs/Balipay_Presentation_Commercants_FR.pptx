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29a0e38ac364873" /><Relationship Type="http://schemas.openxmlformats.org/officeDocument/2006/relationships/extended-properties" Target="/docProps/app.xml" Id="Rd2f7be9fcbd64b94" /><Relationship Type="http://schemas.openxmlformats.org/officeDocument/2006/relationships/officeDocument" Target="/ppt/presentation.xml" Id="R82e9af492cf54be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ca2339d73324354"/>
  </p:sldMasterIdLst>
  <p:notesMasterIdLst>
    <p:notesMasterId xmlns:r="http://schemas.openxmlformats.org/officeDocument/2006/relationships" r:id="Rd21cc4e482004b1d"/>
  </p:notesMasterIdLst>
  <p:sldIdLst>
    <p:sldId xmlns:r="http://schemas.openxmlformats.org/officeDocument/2006/relationships" id="256" r:id="R646a45fe74d440f7"/>
    <p:sldId xmlns:r="http://schemas.openxmlformats.org/officeDocument/2006/relationships" id="257" r:id="R668a3d530cf445c2"/>
    <p:sldId xmlns:r="http://schemas.openxmlformats.org/officeDocument/2006/relationships" id="258" r:id="Rf2d8b79793fc4876"/>
    <p:sldId xmlns:r="http://schemas.openxmlformats.org/officeDocument/2006/relationships" id="259" r:id="Ra2d5a010f6dd4167"/>
    <p:sldId xmlns:r="http://schemas.openxmlformats.org/officeDocument/2006/relationships" id="260" r:id="R011ce40ba4034ab0"/>
    <p:sldId xmlns:r="http://schemas.openxmlformats.org/officeDocument/2006/relationships" id="261" r:id="R9a529d3b9e0b4c75"/>
    <p:sldId xmlns:r="http://schemas.openxmlformats.org/officeDocument/2006/relationships" id="262" r:id="R9039e4ea41d54834"/>
    <p:sldId xmlns:r="http://schemas.openxmlformats.org/officeDocument/2006/relationships" id="263" r:id="R23c89208df204a17"/>
    <p:sldId xmlns:r="http://schemas.openxmlformats.org/officeDocument/2006/relationships" id="264" r:id="R2354ff3ef0bf4238"/>
    <p:sldId xmlns:r="http://schemas.openxmlformats.org/officeDocument/2006/relationships" id="265" r:id="Rc73a68752cbc45c0"/>
    <p:sldId xmlns:r="http://schemas.openxmlformats.org/officeDocument/2006/relationships" id="266" r:id="R200790a5f6a04e6a"/>
    <p:sldId xmlns:r="http://schemas.openxmlformats.org/officeDocument/2006/relationships" id="267" r:id="Rc74f50aab36b4d96"/>
    <p:sldId xmlns:r="http://schemas.openxmlformats.org/officeDocument/2006/relationships" id="268" r:id="R7381d00cb19446b7"/>
    <p:sldId xmlns:r="http://schemas.openxmlformats.org/officeDocument/2006/relationships" id="269" r:id="Ra9fa1c653bd24947"/>
    <p:sldId xmlns:r="http://schemas.openxmlformats.org/officeDocument/2006/relationships" id="270" r:id="Rc7a99b5924634b1e"/>
    <p:sldId xmlns:r="http://schemas.openxmlformats.org/officeDocument/2006/relationships" id="271" r:id="Rc53f5baeb5044a4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4dd86561564949" /><Relationship Type="http://schemas.openxmlformats.org/officeDocument/2006/relationships/slideMaster" Target="/ppt/slideMasters/slideMaster1.xml" Id="Rbca2339d73324354" /><Relationship Type="http://schemas.openxmlformats.org/officeDocument/2006/relationships/notesMaster" Target="/ppt/notesMasters/notesMaster1.xml" Id="Rd21cc4e482004b1d" /><Relationship Type="http://schemas.openxmlformats.org/officeDocument/2006/relationships/presProps" Target="/ppt/presProps.xml" Id="R8301bf38dd1f48e2" /><Relationship Type="http://schemas.openxmlformats.org/officeDocument/2006/relationships/tableStyles" Target="/ppt/tableStyles.xml" Id="Rceea206b92ad4023" /><Relationship Type="http://schemas.openxmlformats.org/officeDocument/2006/relationships/slide" Target="/ppt/slides/slide1.xml" Id="R646a45fe74d440f7" /><Relationship Type="http://schemas.openxmlformats.org/officeDocument/2006/relationships/slide" Target="/ppt/slides/slide2.xml" Id="R668a3d530cf445c2" /><Relationship Type="http://schemas.openxmlformats.org/officeDocument/2006/relationships/slide" Target="/ppt/slides/slide3.xml" Id="Rf2d8b79793fc4876" /><Relationship Type="http://schemas.openxmlformats.org/officeDocument/2006/relationships/slide" Target="/ppt/slides/slide4.xml" Id="Ra2d5a010f6dd4167" /><Relationship Type="http://schemas.openxmlformats.org/officeDocument/2006/relationships/slide" Target="/ppt/slides/slide5.xml" Id="R011ce40ba4034ab0" /><Relationship Type="http://schemas.openxmlformats.org/officeDocument/2006/relationships/slide" Target="/ppt/slides/slide6.xml" Id="R9a529d3b9e0b4c75" /><Relationship Type="http://schemas.openxmlformats.org/officeDocument/2006/relationships/slide" Target="/ppt/slides/slide7.xml" Id="R9039e4ea41d54834" /><Relationship Type="http://schemas.openxmlformats.org/officeDocument/2006/relationships/slide" Target="/ppt/slides/slide8.xml" Id="R23c89208df204a17" /><Relationship Type="http://schemas.openxmlformats.org/officeDocument/2006/relationships/slide" Target="/ppt/slides/slide9.xml" Id="R2354ff3ef0bf4238" /><Relationship Type="http://schemas.openxmlformats.org/officeDocument/2006/relationships/slide" Target="/ppt/slides/slide10.xml" Id="Rc73a68752cbc45c0" /><Relationship Type="http://schemas.openxmlformats.org/officeDocument/2006/relationships/slide" Target="/ppt/slides/slide11.xml" Id="R200790a5f6a04e6a" /><Relationship Type="http://schemas.openxmlformats.org/officeDocument/2006/relationships/slide" Target="/ppt/slides/slide12.xml" Id="Rc74f50aab36b4d96" /><Relationship Type="http://schemas.openxmlformats.org/officeDocument/2006/relationships/slide" Target="/ppt/slides/slide13.xml" Id="R7381d00cb19446b7" /><Relationship Type="http://schemas.openxmlformats.org/officeDocument/2006/relationships/slide" Target="/ppt/slides/slide14.xml" Id="Ra9fa1c653bd24947" /><Relationship Type="http://schemas.openxmlformats.org/officeDocument/2006/relationships/slide" Target="/ppt/slides/slide15.xml" Id="Rc7a99b5924634b1e" /><Relationship Type="http://schemas.openxmlformats.org/officeDocument/2006/relationships/slide" Target="/ppt/slides/slide16.xml" Id="Rc53f5baeb5044a4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a877103b5934a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6af338420df46a0" /><Relationship Type="http://schemas.openxmlformats.org/officeDocument/2006/relationships/notesMaster" Target="/ppt/notesMasters/notesMaster1.xml" Id="Raa44cd827fb1474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59be857142c448b" /><Relationship Type="http://schemas.openxmlformats.org/officeDocument/2006/relationships/notesMaster" Target="/ppt/notesMasters/notesMaster1.xml" Id="Raf6bbf047efe436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d3afba406c14e23" /><Relationship Type="http://schemas.openxmlformats.org/officeDocument/2006/relationships/notesMaster" Target="/ppt/notesMasters/notesMaster1.xml" Id="R7bb3cf67ff0141e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febd1322c8a40a4" /><Relationship Type="http://schemas.openxmlformats.org/officeDocument/2006/relationships/notesMaster" Target="/ppt/notesMasters/notesMaster1.xml" Id="Rb332096efab94a5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e397ae660944a2" /><Relationship Type="http://schemas.openxmlformats.org/officeDocument/2006/relationships/notesMaster" Target="/ppt/notesMasters/notesMaster1.xml" Id="R83f58d7117064d3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707eb5089674665" /><Relationship Type="http://schemas.openxmlformats.org/officeDocument/2006/relationships/notesMaster" Target="/ppt/notesMasters/notesMaster1.xml" Id="Rfd1bdd1534d24f9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373701c8c72429b" /><Relationship Type="http://schemas.openxmlformats.org/officeDocument/2006/relationships/notesMaster" Target="/ppt/notesMasters/notesMaster1.xml" Id="R0aef66a64db743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52dc07cc8c7461f" /><Relationship Type="http://schemas.openxmlformats.org/officeDocument/2006/relationships/notesMaster" Target="/ppt/notesMasters/notesMaster1.xml" Id="Rf0087ed57dbe4db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3d7b9fb4b9840f5" /><Relationship Type="http://schemas.openxmlformats.org/officeDocument/2006/relationships/notesMaster" Target="/ppt/notesMasters/notesMaster1.xml" Id="R4d6e70230e9549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3400cadf9ac4942" /><Relationship Type="http://schemas.openxmlformats.org/officeDocument/2006/relationships/notesMaster" Target="/ppt/notesMasters/notesMaster1.xml" Id="R76460151a47b474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aadf6a230f40f3" /><Relationship Type="http://schemas.openxmlformats.org/officeDocument/2006/relationships/notesMaster" Target="/ppt/notesMasters/notesMaster1.xml" Id="R6d7d3100bc574db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69063f1ac314dc9" /><Relationship Type="http://schemas.openxmlformats.org/officeDocument/2006/relationships/notesMaster" Target="/ppt/notesMasters/notesMaster1.xml" Id="Re02abc9ca6c7460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3dabe6b236d4235" /><Relationship Type="http://schemas.openxmlformats.org/officeDocument/2006/relationships/notesMaster" Target="/ppt/notesMasters/notesMaster1.xml" Id="Rfac3ee46de744d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254eaa61f264cbe" /><Relationship Type="http://schemas.openxmlformats.org/officeDocument/2006/relationships/notesMaster" Target="/ppt/notesMasters/notesMaster1.xml" Id="Rce0bc6c14e2849a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4c8b490cc634405" /><Relationship Type="http://schemas.openxmlformats.org/officeDocument/2006/relationships/notesMaster" Target="/ppt/notesMasters/notesMaster1.xml" Id="R6118223b84ba40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d139a3ea5eb4a06" /><Relationship Type="http://schemas.openxmlformats.org/officeDocument/2006/relationships/notesMaster" Target="/ppt/notesMasters/notesMaster1.xml" Id="R88bd842db44141e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48d23ab1c847f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dfcc496b76b4cd9" /><Relationship Type="http://schemas.openxmlformats.org/officeDocument/2006/relationships/slideLayout" Target="/ppt/slideLayouts/slideLayout1.xml" Id="Rd284289a57e54aa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284289a57e54aa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b6ad7f12547d9" /><Relationship Type="http://schemas.openxmlformats.org/officeDocument/2006/relationships/image" Target="/ppt/media/image.png" Id="Rd2dbeb440cf143fb" /><Relationship Type="http://schemas.openxmlformats.org/officeDocument/2006/relationships/notesSlide" Target="/ppt/notesSlides/notesSlide1.xml" Id="R38da326ec6b64d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8cc811930843b9" /><Relationship Type="http://schemas.openxmlformats.org/officeDocument/2006/relationships/notesSlide" Target="/ppt/notesSlides/notesSlide2.xml" Id="R7c55d81d377b4de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8af6bc84fa4d6b" /><Relationship Type="http://schemas.openxmlformats.org/officeDocument/2006/relationships/notesSlide" Target="/ppt/notesSlides/notesSlide3.xml" Id="R1e8dc765c460416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e9617d42034f05" /><Relationship Type="http://schemas.openxmlformats.org/officeDocument/2006/relationships/notesSlide" Target="/ppt/notesSlides/notesSlide4.xml" Id="R6ea4ea51f3664cb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9dc83752b74c89" /><Relationship Type="http://schemas.openxmlformats.org/officeDocument/2006/relationships/notesSlide" Target="/ppt/notesSlides/notesSlide5.xml" Id="R25f66cfc56d74e3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993b38bbb54b05" /><Relationship Type="http://schemas.openxmlformats.org/officeDocument/2006/relationships/notesSlide" Target="/ppt/notesSlides/notesSlide6.xml" Id="R7162635add5d4fd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4fe726c7ed46c9" /><Relationship Type="http://schemas.openxmlformats.org/officeDocument/2006/relationships/notesSlide" Target="/ppt/notesSlides/notesSlide7.xml" Id="R8cf3d29090de45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695a6577b949b7" /><Relationship Type="http://schemas.openxmlformats.org/officeDocument/2006/relationships/notesSlide" Target="/ppt/notesSlides/notesSlide8.xml" Id="Rb8d999ba788f4b6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3d2bcc47c44769" /><Relationship Type="http://schemas.openxmlformats.org/officeDocument/2006/relationships/image" Target="/ppt/media/image2.png" Id="Ree0b7883c7304008" /><Relationship Type="http://schemas.openxmlformats.org/officeDocument/2006/relationships/notesSlide" Target="/ppt/notesSlides/notesSlide9.xml" Id="R744b5ba180d34db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b0c04bd3df4f31" /><Relationship Type="http://schemas.openxmlformats.org/officeDocument/2006/relationships/notesSlide" Target="/ppt/notesSlides/notesSlide10.xml" Id="Ra88965c312084a6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054027e5a4551" /><Relationship Type="http://schemas.openxmlformats.org/officeDocument/2006/relationships/notesSlide" Target="/ppt/notesSlides/notesSlide11.xml" Id="R8d05bf6ec04a464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ceb047db834415" /><Relationship Type="http://schemas.openxmlformats.org/officeDocument/2006/relationships/notesSlide" Target="/ppt/notesSlides/notesSlide12.xml" Id="R235f3a2029e74e0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b7683d9a0245fd" /><Relationship Type="http://schemas.openxmlformats.org/officeDocument/2006/relationships/notesSlide" Target="/ppt/notesSlides/notesSlide13.xml" Id="R2ce2f1f5d5e64f3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c3f43408df4da0" /><Relationship Type="http://schemas.openxmlformats.org/officeDocument/2006/relationships/notesSlide" Target="/ppt/notesSlides/notesSlide14.xml" Id="Rdbc05af35023428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b65ee8b8be4fde" /><Relationship Type="http://schemas.openxmlformats.org/officeDocument/2006/relationships/notesSlide" Target="/ppt/notesSlides/notesSlide15.xml" Id="R5506ef769e724b7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f17df1fde14b45" /><Relationship Type="http://schemas.openxmlformats.org/officeDocument/2006/relationships/notesSlide" Target="/ppt/notesSlides/notesSlide16.xml" Id="R12e6b0c2810e41b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030723-7970-41E4-BA26-1107A15E2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6"/>
          </a:solidFill>
          <a:ln xmlns:a="http://schemas.openxmlformats.org/drawingml/2006/main" w="0">
            <a:solidFill>
              <a:srgbClr val="FBFAF6"/>
            </a:solidFill>
            <a:prstDash val="solid"/>
          </a:ln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dbeb440cf143fb"/>
          <a:srcRect xmlns:a="http://schemas.openxmlformats.org/drawingml/2006/main" l="24332" t="0" r="243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0" y="609600"/>
            <a:ext cx="5143500" cy="5638800"/>
          </a:xfrm>
          <a:prstGeom xmlns:a="http://schemas.openxmlformats.org/drawingml/2006/main" prst="roundRect">
            <a:avLst>
              <a:gd name="adj" fmla="val 2222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E462E9C-48A0-4825-BDF4-D624C6CAF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2095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26C58"/>
                </a:solidFill>
              </a:defRPr>
            </a:pPr>
            <a:r>
              <a:rPr sz="1500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56A521-72CF-4A4D-9359-ACFEC7ED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7800"/>
            <a:ext cx="5143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4211D"/>
                </a:solidFill>
              </a:defRPr>
            </a:pPr>
            <a:r>
              <a:rPr sz="3750" b="1">
                <a:solidFill>
                  <a:srgbClr val="14211D"/>
                </a:solidFill>
              </a:rPr>
              <a:t>Paiement, services et récompenses pour commerçants Chine-Europe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B3311C-11AC-4479-8036-48A1E9B51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E7068"/>
                </a:solidFill>
              </a:defRPr>
            </a:pPr>
            <a:r>
              <a:rPr sz="1800" b="0">
                <a:solidFill>
                  <a:srgbClr val="5E7068"/>
                </a:solidFill>
              </a:rPr>
              <a:t>Un système mixte inspiré de Silkpay et Revolut : TPE, QR, dashboard, carte virtuelle, financement futur et avantages premium.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17912D-70DC-40CD-9F49-EED1F31CE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3429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C58"/>
          </a:solidFill>
          <a:ln xmlns:a="http://schemas.openxmlformats.org/drawingml/2006/main" w="9525">
            <a:solidFill>
              <a:srgbClr val="126C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BAC3CF-E851-491F-9CC4-EEEB1BD69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410200"/>
            <a:ext cx="3162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Votre passerelle entre la Chine et l’Europe</a:t>
            </a:r>
          </a:p>
        </p:txBody>
      </p:sp>
    </p:spTree>
    <p:extLst>
      <p:ext uri="{BB962C8B-B14F-4D97-AF65-F5344CB8AC3E}">
        <p14:creationId xmlns:p14="http://schemas.microsoft.com/office/powerpoint/2010/main" val="10609482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7F9D6E7-8ED2-4436-8F37-726884F3B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979C00-1D73-493D-87D4-AB0D06DB7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Le problème des commerçants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B763FD-1CA2-4ACB-9162-5D119F956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E8D74-70BC-49F5-AB7F-3F9B2E5E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990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7068"/>
                </a:solidFill>
              </a:defRPr>
            </a:pPr>
            <a:r>
              <a:rPr sz="2025" b="0">
                <a:solidFill>
                  <a:srgbClr val="5E7068"/>
                </a:solidFill>
              </a:rPr>
              <a:t>Les clients chinois et internationaux veulent payer simplement. Les commerçants, eux, doivent gérer trop d’outils séparés.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764AA3-0E30-4849-8C19-46046FCB8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E3BEDE-1328-42C4-A4A6-0E8A6988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051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1D"/>
                </a:solidFill>
              </a:defRPr>
            </a:pPr>
            <a:r>
              <a:rPr sz="1950" b="1">
                <a:solidFill>
                  <a:srgbClr val="14211D"/>
                </a:solidFill>
              </a:rPr>
              <a:t>Paiements fragmentés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6B11CDF-2547-4C12-915C-3493136E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68"/>
                </a:solidFill>
              </a:defRPr>
            </a:pPr>
            <a:r>
              <a:rPr sz="1425" b="0">
                <a:solidFill>
                  <a:srgbClr val="5E7068"/>
                </a:solidFill>
              </a:rPr>
              <a:t>CB, Alipay, WeChat Pay, UnionPay et liens de paiement ne sont pas toujours réunis.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DB3E86-C427-4B19-8EFB-EC15031F7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6700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F86D80-A073-43EC-80F6-17B8E089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9051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1D"/>
                </a:solidFill>
              </a:defRPr>
            </a:pPr>
            <a:r>
              <a:rPr sz="1950" b="1">
                <a:solidFill>
                  <a:srgbClr val="14211D"/>
                </a:solidFill>
              </a:rPr>
              <a:t>Suivi financier complexe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171896-6358-46D5-A0D2-C33D91F8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76625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68"/>
                </a:solidFill>
              </a:defRPr>
            </a:pPr>
            <a:r>
              <a:rPr sz="1425" b="0">
                <a:solidFill>
                  <a:srgbClr val="5E7068"/>
                </a:solidFill>
              </a:rPr>
              <a:t>Tickets, TPE, remboursements et clôture journalière prennent du temps.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EFBE33-0D67-4793-A803-0A767B5C1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667000"/>
            <a:ext cx="323850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4D7C6-C3CA-477D-B680-A50494CBC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905125"/>
            <a:ext cx="2781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4211D"/>
                </a:solidFill>
              </a:defRPr>
            </a:pPr>
            <a:r>
              <a:rPr sz="1950" b="1">
                <a:solidFill>
                  <a:srgbClr val="14211D"/>
                </a:solidFill>
              </a:rPr>
              <a:t>Peu d’avantages business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244024-2D9D-414B-8276-234D6681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76625"/>
            <a:ext cx="27813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E7068"/>
                </a:solidFill>
              </a:defRPr>
            </a:pPr>
            <a:r>
              <a:rPr sz="1425" b="0">
                <a:solidFill>
                  <a:srgbClr val="5E7068"/>
                </a:solidFill>
              </a:rPr>
              <a:t>Les paiements professionnels ne donnent presque jamais de récompenses utiles.</a:t>
            </a:r>
          </a:p>
        </p:txBody>
      </p:sp>
    </p:spTree>
    <p:extLst>
      <p:ext uri="{BB962C8B-B14F-4D97-AF65-F5344CB8AC3E}">
        <p14:creationId xmlns:p14="http://schemas.microsoft.com/office/powerpoint/2010/main" val="105845506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D50C14-64E8-4A66-9455-59DDC7570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713B2C-1722-4C91-B421-27415CC6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La solution Balipay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EBFCE4-25DA-44AB-B5A7-3D30194B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8D44B0-3F06-4012-ADE6-BAE4E75C3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239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7068"/>
                </a:solidFill>
              </a:defRPr>
            </a:pPr>
            <a:r>
              <a:rPr sz="2100" b="0">
                <a:solidFill>
                  <a:srgbClr val="5E7068"/>
                </a:solidFill>
              </a:rPr>
              <a:t>Une plateforme unique pour encaisser, suivre, récompenser et accompagner les commerçants.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7E8096-B7E6-4A1E-BE47-6C7680ED7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76500"/>
            <a:ext cx="4857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B4006-0AD3-4D52-B666-4D0528849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4F42"/>
                </a:solidFill>
              </a:defRPr>
            </a:pPr>
            <a:r>
              <a:rPr sz="1800" b="1">
                <a:solidFill>
                  <a:srgbClr val="0C4F42"/>
                </a:solidFill>
              </a:rPr>
              <a:t>Paiements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2515B41-E9EB-4917-B27A-1531EB18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860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1D"/>
                </a:solidFill>
              </a:defRPr>
            </a:pPr>
            <a:r>
              <a:rPr sz="1425" b="0">
                <a:solidFill>
                  <a:srgbClr val="14211D"/>
                </a:solidFill>
              </a:rPr>
              <a:t>CB, Visa, Mastercard, Alipay, WeChat Pay, UnionPay, Pay by Link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133C82-AE3B-4F10-8EC0-7F51BD7F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476500"/>
            <a:ext cx="4857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85B6B5-95FD-462F-9DB3-BFD64F5DC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686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4F42"/>
                </a:solidFill>
              </a:defRPr>
            </a:pPr>
            <a:r>
              <a:rPr sz="1800" b="1">
                <a:solidFill>
                  <a:srgbClr val="0C4F42"/>
                </a:solidFill>
              </a:rPr>
              <a:t>Gestion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0B0158-92AC-40D4-996A-D2ADEAF55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1D"/>
                </a:solidFill>
              </a:defRPr>
            </a:pPr>
            <a:r>
              <a:rPr sz="1425" b="0">
                <a:solidFill>
                  <a:srgbClr val="14211D"/>
                </a:solidFill>
              </a:rPr>
              <a:t>Dashboard, reporting, clôture journalière, exports comptables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FAB31C-1C52-4566-8CCB-E9AD1D3AA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857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DEB2EC-9FE9-48DE-B020-D084D61D3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1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4F42"/>
                </a:solidFill>
              </a:defRPr>
            </a:pPr>
            <a:r>
              <a:rPr sz="1800" b="1">
                <a:solidFill>
                  <a:srgbClr val="0C4F42"/>
                </a:solidFill>
              </a:rPr>
              <a:t>Services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D89B92E-67E9-4577-906F-B7791D6C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100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1D"/>
                </a:solidFill>
              </a:defRPr>
            </a:pPr>
            <a:r>
              <a:rPr sz="1425" b="0">
                <a:solidFill>
                  <a:srgbClr val="14211D"/>
                </a:solidFill>
              </a:rPr>
              <a:t>Carte virtuelle, financement futur, rewards, support bilingue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0372E2-F65B-4275-A027-BBF410299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4000500"/>
            <a:ext cx="4857750" cy="1123950"/>
          </a:xfrm>
          <a:prstGeom xmlns:a="http://schemas.openxmlformats.org/drawingml/2006/main" prst="roundRect">
            <a:avLst>
              <a:gd name="adj" fmla="val 101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A79193-0EE5-4F73-96A1-C5B38687E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42100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C4F42"/>
                </a:solidFill>
              </a:defRPr>
            </a:pPr>
            <a:r>
              <a:rPr sz="1800" b="1">
                <a:solidFill>
                  <a:srgbClr val="0C4F42"/>
                </a:solidFill>
              </a:rPr>
              <a:t>Enterprise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334B32-03AB-49D0-83F1-4E9A66537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21005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11D"/>
                </a:solidFill>
              </a:defRPr>
            </a:pPr>
            <a:r>
              <a:rPr sz="1425" b="0">
                <a:solidFill>
                  <a:srgbClr val="14211D"/>
                </a:solidFill>
              </a:rPr>
              <a:t>Backend fort, API, multi-sites, sécurité renforcée</a:t>
            </a:r>
          </a:p>
        </p:txBody>
      </p:sp>
    </p:spTree>
    <p:extLst>
      <p:ext uri="{BB962C8B-B14F-4D97-AF65-F5344CB8AC3E}">
        <p14:creationId xmlns:p14="http://schemas.microsoft.com/office/powerpoint/2010/main" val="12089811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B2D2C-D485-46C6-B4C4-8FC93375C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5B4829-4C9B-45D5-B218-95C712482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Un projet soutenu par des acteurs solides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CC76D8-E206-443A-B627-56DA2E36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21EFB1-0F3E-4401-A6A7-B6BE24D4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76375"/>
            <a:ext cx="8382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7068"/>
                </a:solidFill>
              </a:defRPr>
            </a:pPr>
            <a:r>
              <a:rPr sz="2100" b="0">
                <a:solidFill>
                  <a:srgbClr val="5E7068"/>
                </a:solidFill>
              </a:rPr>
              <a:t>Balipay se construit avec un écosystème institutionnel et financier reconnu.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429243-3BD2-40B6-8852-F718655A9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24125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5EAC59-8F86-42CD-A983-0A1FA861C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8575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C4F42"/>
                </a:solidFill>
              </a:defRPr>
            </a:pPr>
            <a:r>
              <a:rPr sz="2250" b="1">
                <a:solidFill>
                  <a:srgbClr val="0C4F42"/>
                </a:solidFill>
              </a:rPr>
              <a:t>Bpifrance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4A4C6C-5CBE-47F4-83F5-652EE9CCA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4290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7068"/>
                </a:solidFill>
              </a:defRPr>
            </a:pPr>
            <a:r>
              <a:rPr sz="1500" b="0">
                <a:solidFill>
                  <a:srgbClr val="5E7068"/>
                </a:solidFill>
              </a:rPr>
              <a:t>Soutien au développement et à l’innovation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A1C016-D456-4E98-B82D-06413536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0CEF0D-1D9D-4B74-B422-8E76F3DAF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575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C4F42"/>
                </a:solidFill>
              </a:defRPr>
            </a:pPr>
            <a:r>
              <a:rPr sz="2250" b="1">
                <a:solidFill>
                  <a:srgbClr val="0C4F42"/>
                </a:solidFill>
              </a:rPr>
              <a:t>Région Île-de-France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E30B03-5420-4049-88A8-1A46E174D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290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7068"/>
                </a:solidFill>
              </a:defRPr>
            </a:pPr>
            <a:r>
              <a:rPr sz="1500" b="0">
                <a:solidFill>
                  <a:srgbClr val="5E7068"/>
                </a:solidFill>
              </a:rPr>
              <a:t>Ancrage local et ambition européenne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FB393-D538-4553-8571-96B102AC4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24125"/>
            <a:ext cx="2857500" cy="1619250"/>
          </a:xfrm>
          <a:prstGeom xmlns:a="http://schemas.openxmlformats.org/drawingml/2006/main" prst="roundRect">
            <a:avLst>
              <a:gd name="adj" fmla="val 70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8BDBE4-3DEB-4A6A-9507-03AD53D2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857500"/>
            <a:ext cx="24003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C4F42"/>
                </a:solidFill>
              </a:defRPr>
            </a:pPr>
            <a:r>
              <a:rPr sz="2250" b="1">
                <a:solidFill>
                  <a:srgbClr val="0C4F42"/>
                </a:solidFill>
              </a:rPr>
              <a:t>La Banque Postale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987EDB-C8F6-4F72-8082-B5CD7239F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29000"/>
            <a:ext cx="2400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E7068"/>
                </a:solidFill>
              </a:defRPr>
            </a:pPr>
            <a:r>
              <a:rPr sz="1500" b="0">
                <a:solidFill>
                  <a:srgbClr val="5E7068"/>
                </a:solidFill>
              </a:rPr>
              <a:t>Partenaire financier de Balipay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2B45FE-3E65-40D0-AE0E-708570FF0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905375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11D"/>
                </a:solidFill>
              </a:defRPr>
            </a:pPr>
            <a:r>
              <a:rPr sz="1950" b="1">
                <a:solidFill>
                  <a:srgbClr val="14211D"/>
                </a:solidFill>
              </a:rPr>
              <a:t>Message de confiance : une solution pensée pour durer, pas seulement pour encaisser.</a:t>
            </a:r>
          </a:p>
        </p:txBody>
      </p:sp>
    </p:spTree>
    <p:extLst>
      <p:ext uri="{BB962C8B-B14F-4D97-AF65-F5344CB8AC3E}">
        <p14:creationId xmlns:p14="http://schemas.microsoft.com/office/powerpoint/2010/main" val="6744245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D9838C-2EBF-4283-8468-F6F7F2DB3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859127-DCA9-4BA1-86DC-18C1B7E51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Paiements acceptés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DB68A0-21A2-451F-BB31-4FEE5DDF8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49AE10-310D-4A1F-B19C-79FD9A00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144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7068"/>
                </a:solidFill>
              </a:defRPr>
            </a:pPr>
            <a:r>
              <a:rPr sz="2025" b="0">
                <a:solidFill>
                  <a:srgbClr val="5E7068"/>
                </a:solidFill>
              </a:rPr>
              <a:t>Balipay rassemble les moyens de paiement attendus par les clients locaux, touristes et professionnels.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E3D6E3-CA7D-4AEC-91B8-F5080F7A6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8125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B7EEBF-39FB-49FA-A10B-5C9859D7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09850"/>
            <a:ext cx="1933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11D"/>
                </a:solidFill>
              </a:defRPr>
            </a:pPr>
            <a:r>
              <a:rPr sz="1950" b="1">
                <a:solidFill>
                  <a:srgbClr val="14211D"/>
                </a:solidFill>
              </a:rPr>
              <a:t>CB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0CAE06-46D0-4822-8B60-10F8464C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38125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B60A27-A58F-43C7-A75B-3BC33BE5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2609850"/>
            <a:ext cx="1933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11D"/>
                </a:solidFill>
              </a:defRPr>
            </a:pPr>
            <a:r>
              <a:rPr sz="1950" b="1">
                <a:solidFill>
                  <a:srgbClr val="14211D"/>
                </a:solidFill>
              </a:rPr>
              <a:t>Visa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DD7F8-76B8-4194-9B9D-40491CA0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8125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A7E1B0-3B84-475D-95BE-6446E876E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9850"/>
            <a:ext cx="1933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4211D"/>
                </a:solidFill>
              </a:defRPr>
            </a:pPr>
            <a:r>
              <a:rPr sz="1950" b="1">
                <a:solidFill>
                  <a:srgbClr val="14211D"/>
                </a:solidFill>
              </a:rPr>
              <a:t>Mastercard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9E0C03-A9C0-4837-98E5-CA1019F96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238125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B7E89F-FE36-4FDB-9380-97975814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2609850"/>
            <a:ext cx="1933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C4F42"/>
                </a:solidFill>
              </a:defRPr>
            </a:pPr>
            <a:r>
              <a:rPr sz="1950" b="1">
                <a:solidFill>
                  <a:srgbClr val="0C4F42"/>
                </a:solidFill>
              </a:rPr>
              <a:t>Alipay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BA8F89-F9D1-4FC1-8C7B-D9E72DE57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941C18-1984-4678-A70B-C742FA56D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800475"/>
            <a:ext cx="1933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C4F42"/>
                </a:solidFill>
              </a:defRPr>
            </a:pPr>
            <a:r>
              <a:rPr sz="1950" b="1">
                <a:solidFill>
                  <a:srgbClr val="0C4F42"/>
                </a:solidFill>
              </a:rPr>
              <a:t>WeChat Pay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F2F73FB-6359-4093-9529-E51A230E2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3571875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2F74CB-B156-4D1C-8E4C-2786F0FB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3800475"/>
            <a:ext cx="1933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C4F42"/>
                </a:solidFill>
              </a:defRPr>
            </a:pPr>
            <a:r>
              <a:rPr sz="1950" b="1">
                <a:solidFill>
                  <a:srgbClr val="0C4F42"/>
                </a:solidFill>
              </a:rPr>
              <a:t>UnionPay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DD56C7-4C43-4471-BE7F-233EBAD11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71875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F7A58A-B44A-4432-AB17-8004968B7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00475"/>
            <a:ext cx="1933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C4F42"/>
                </a:solidFill>
              </a:defRPr>
            </a:pPr>
            <a:r>
              <a:rPr sz="1950" b="1">
                <a:solidFill>
                  <a:srgbClr val="0C4F42"/>
                </a:solidFill>
              </a:rPr>
              <a:t>Pay by Link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6E90D1-DE41-4FEC-BC3E-E08DBC93E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2075" y="3571875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060CE16-B2A0-4EC8-A79F-E2B600E6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4475" y="3800475"/>
            <a:ext cx="19335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0C4F42"/>
                </a:solidFill>
              </a:defRPr>
            </a:pPr>
            <a:r>
              <a:rPr sz="1950" b="1">
                <a:solidFill>
                  <a:srgbClr val="0C4F42"/>
                </a:solidFill>
              </a:rPr>
              <a:t>QR Code</a:t>
            </a:r>
          </a:p>
        </p:txBody>
      </p:sp>
    </p:spTree>
    <p:extLst>
      <p:ext uri="{BB962C8B-B14F-4D97-AF65-F5344CB8AC3E}">
        <p14:creationId xmlns:p14="http://schemas.microsoft.com/office/powerpoint/2010/main" val="71251752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58352B1-3672-4A18-BC0C-A13CD6D7C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9A22D39-9A4F-4CCF-B5A9-23CEF7592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Pour commerces indépendants et grandes enseignes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73562-16C5-4DD8-B7BA-E54D0DE5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A5A8D9-9DB2-48C2-9B39-46D5DB4D1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7068"/>
                </a:solidFill>
              </a:defRPr>
            </a:pPr>
            <a:r>
              <a:rPr sz="2025" b="0">
                <a:solidFill>
                  <a:srgbClr val="5E7068"/>
                </a:solidFill>
              </a:rPr>
              <a:t>Même plateforme, deux niveaux d’usage : simplicité pour les commerçants, robustesse pour les groupes.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A82DC9-31A9-4FD7-9C8D-26908326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DC4F0D-E82B-4094-AFB2-53760C570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14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4F42"/>
                </a:solidFill>
              </a:defRPr>
            </a:pPr>
            <a:r>
              <a:rPr sz="2250" b="1">
                <a:solidFill>
                  <a:srgbClr val="0C4F42"/>
                </a:solidFill>
              </a:rPr>
              <a:t>Commerces indépendants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6662B1F-6A5D-4A5C-BA62-B97F7FF4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5C047D-7427-4293-819A-DC46BB5B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337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Installation simple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81ADEF-99F4-48BE-935D-33F86122A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2A60A-E7CA-4F7D-8870-43285635A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528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TPE + QR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84F97D-28AE-462E-B7D1-13853D07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FA0C18-B873-43E6-8086-9C88D5D2C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1719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Support chinois/français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AEB881-C954-4623-8CB7-F3D399F41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657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CABD286-6A55-40F9-AC0A-A12BACAD4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5910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Commission compétitive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10A848-1204-4EB0-A8A3-0AB730EEC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81250"/>
            <a:ext cx="47625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86E6C0-0611-40F8-A382-613A9B725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714625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C4F42"/>
                </a:solidFill>
              </a:defRPr>
            </a:pPr>
            <a:r>
              <a:rPr sz="2250" b="1">
                <a:solidFill>
                  <a:srgbClr val="0C4F42"/>
                </a:solidFill>
              </a:rPr>
              <a:t>Grandes enseignes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71B347E-0D23-4829-8588-9CAB3560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4004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DEC115-D541-4551-93CD-349BB1DA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3337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API et intégration caisse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655B6DB-D50B-4FAC-9CF0-93FA31D03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19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9DB8D6D-08E5-432B-9A15-B658CD21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7528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Reporting multi-sites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FDEAC5-5E14-4F34-A63D-1EFA915C6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2386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F2FEE-68B3-465A-8D9C-69FE7387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1719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Permissions par équipe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C1E90B-4EFC-48C1-B984-9CB4C1ACB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6577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2E1C7C-5D2B-4C40-8ACA-5FAD73512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591050"/>
            <a:ext cx="3448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Accompagnement technique</a:t>
            </a:r>
          </a:p>
        </p:txBody>
      </p:sp>
    </p:spTree>
    <p:extLst>
      <p:ext uri="{BB962C8B-B14F-4D97-AF65-F5344CB8AC3E}">
        <p14:creationId xmlns:p14="http://schemas.microsoft.com/office/powerpoint/2010/main" val="154799097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D8FAE32-C701-46EF-B1BA-C4E853C0E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F9FB13-CF9D-46A2-B42A-28D15E23B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Backend fort et architecture scalable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0FBF4C-6322-4F0F-A2A1-321939ABC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EE84F8-B63B-41CF-B8E9-7085F2488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E7068"/>
                </a:solidFill>
              </a:defRPr>
            </a:pPr>
            <a:r>
              <a:rPr sz="1950" b="0">
                <a:solidFill>
                  <a:srgbClr val="5E7068"/>
                </a:solidFill>
              </a:rPr>
              <a:t>Balipay est conçu comme une plateforme indépendante : les partenaires de paiement sont des connecteurs, pas le cœur du produit.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C84E87-B43B-44CB-B4A0-F7124E180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086E05-26B6-4745-91A8-B6E61FB01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527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1D"/>
                </a:solidFill>
              </a:defRPr>
            </a:pPr>
            <a:r>
              <a:rPr sz="1575" b="1">
                <a:solidFill>
                  <a:srgbClr val="14211D"/>
                </a:solidFill>
              </a:rPr>
              <a:t>TPE / QR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7F7FA7-F1B1-4629-B5D2-9237D8A8B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0325" y="3105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8A36"/>
                </a:solidFill>
              </a:defRPr>
            </a:pPr>
            <a:r>
              <a:rPr sz="2100" b="1">
                <a:solidFill>
                  <a:srgbClr val="B88A36"/>
                </a:solidFill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1544C74-D2AB-4923-A245-E8C460462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5750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25ADD4-0B23-4F17-B23B-030077B0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527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1D"/>
                </a:solidFill>
              </a:defRPr>
            </a:pPr>
            <a:r>
              <a:rPr sz="1575" b="1">
                <a:solidFill>
                  <a:srgbClr val="14211D"/>
                </a:solidFill>
              </a:rPr>
              <a:t>API Balipay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741743-9BB0-48AB-816E-0A0BC6A7A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3105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8A36"/>
                </a:solidFill>
              </a:defRPr>
            </a:pPr>
            <a:r>
              <a:rPr sz="2100" b="1">
                <a:solidFill>
                  <a:srgbClr val="B88A36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BED2F-4F73-49BA-A942-A6634D990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85750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126C58"/>
          </a:solidFill>
          <a:ln xmlns:a="http://schemas.openxmlformats.org/drawingml/2006/main" w="9525">
            <a:solidFill>
              <a:srgbClr val="126C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453EED-7134-435C-B25A-A1C4BB0F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1527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Orchestrateur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F0B8D-E72A-4D9A-AC8C-839C951D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075" y="3105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8A36"/>
                </a:solidFill>
              </a:defRPr>
            </a:pPr>
            <a:r>
              <a:rPr sz="2100" b="1">
                <a:solidFill>
                  <a:srgbClr val="B88A3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2CA09D-5E4D-48C4-9CEA-CAECC6FA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285750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9317E2-EADB-43EA-A597-CF52723F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9525" y="31527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1D"/>
                </a:solidFill>
              </a:defRPr>
            </a:pPr>
            <a:r>
              <a:rPr sz="1575" b="1">
                <a:solidFill>
                  <a:srgbClr val="14211D"/>
                </a:solidFill>
              </a:rPr>
              <a:t>Connecteurs PSP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64ADCC7-EDF3-40FB-9E9C-B77424B7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10515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B88A36"/>
                </a:solidFill>
              </a:defRPr>
            </a:pPr>
            <a:r>
              <a:rPr sz="2100" b="1">
                <a:solidFill>
                  <a:srgbClr val="B88A36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3C38A41-7E0B-4319-809F-F6FB7F1B0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7145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BAE29-40AA-48E3-8155-EF5B8C6B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152775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4211D"/>
                </a:solidFill>
              </a:defRPr>
            </a:pPr>
            <a:r>
              <a:rPr sz="1575" b="1">
                <a:solidFill>
                  <a:srgbClr val="14211D"/>
                </a:solidFill>
              </a:rPr>
              <a:t>Dashboard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938CFD0-99BC-46A4-B349-AE1D4EC3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591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C4F42"/>
                </a:solidFill>
              </a:defRPr>
            </a:pPr>
            <a:r>
              <a:rPr sz="1800" b="1">
                <a:solidFill>
                  <a:srgbClr val="0C4F42"/>
                </a:solidFill>
              </a:rPr>
              <a:t>API • multi-sites • webhooks • journaux d’audit • reporting consolidé • connecteurs remplaçables</a:t>
            </a:r>
          </a:p>
        </p:txBody>
      </p:sp>
    </p:spTree>
    <p:extLst>
      <p:ext uri="{BB962C8B-B14F-4D97-AF65-F5344CB8AC3E}">
        <p14:creationId xmlns:p14="http://schemas.microsoft.com/office/powerpoint/2010/main" val="54969079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A41CB19-F21B-450A-87E4-C01B99A6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13610E-8B6C-49BB-BDAD-9FCCC6240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Sécurité et confiance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3B0854-8D73-4189-BEA6-EFE93AAA3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BDB6E-788F-4B87-B1FA-D1CB77CDB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810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7068"/>
                </a:solidFill>
              </a:defRPr>
            </a:pPr>
            <a:r>
              <a:rPr sz="2025" b="0">
                <a:solidFill>
                  <a:srgbClr val="5E7068"/>
                </a:solidFill>
              </a:rPr>
              <a:t>La cybersécurité est une priorité dès la conception. Balipay prévoit des experts et une sécurité renforcée.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4A5FD9-B6DE-4DF3-98FC-FD842EC9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66700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1BC384-8B29-4C6A-8F8F-F11A01E28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C4F42"/>
                </a:solidFill>
              </a:defRPr>
            </a:pPr>
            <a:r>
              <a:rPr sz="1875" b="1">
                <a:solidFill>
                  <a:srgbClr val="0C4F42"/>
                </a:solidFill>
              </a:rPr>
              <a:t>Experts cybersécurité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1AB4F6-B870-4562-82C0-B90537738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543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7068"/>
                </a:solidFill>
              </a:defRPr>
            </a:pPr>
            <a:r>
              <a:rPr sz="1350" b="0">
                <a:solidFill>
                  <a:srgbClr val="5E7068"/>
                </a:solidFill>
              </a:rPr>
              <a:t>Revue architecture, tests, surveillance et bonnes pratiques paiement.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9B21B-41E4-47E4-88FA-3446F2844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29C7FA-0F2C-4389-A9C2-7F045958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000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C4F42"/>
                </a:solidFill>
              </a:defRPr>
            </a:pPr>
            <a:r>
              <a:rPr sz="1875" b="1">
                <a:solidFill>
                  <a:srgbClr val="0C4F42"/>
                </a:solidFill>
              </a:rPr>
              <a:t>Protection des données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781067-44DB-43FD-A885-6A4B0D97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543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7068"/>
                </a:solidFill>
              </a:defRPr>
            </a:pPr>
            <a:r>
              <a:rPr sz="1350" b="0">
                <a:solidFill>
                  <a:srgbClr val="5E7068"/>
                </a:solidFill>
              </a:rPr>
              <a:t>GDPR, permissions, logs d’audit, accès sécurisés.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DAFAC4-0C77-4C70-9F70-0C79B549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667000"/>
            <a:ext cx="2857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5F6A1D-D6F6-4B5A-8E80-680DC7DC1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000375"/>
            <a:ext cx="2381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C4F42"/>
                </a:solidFill>
              </a:defRPr>
            </a:pPr>
            <a:r>
              <a:rPr sz="1875" b="1">
                <a:solidFill>
                  <a:srgbClr val="0C4F42"/>
                </a:solidFill>
              </a:rPr>
              <a:t>Moins d’exposition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3671B4-57BA-49E5-8125-714B41F21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5433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E7068"/>
                </a:solidFill>
              </a:defRPr>
            </a:pPr>
            <a:r>
              <a:rPr sz="1350" b="0">
                <a:solidFill>
                  <a:srgbClr val="5E7068"/>
                </a:solidFill>
              </a:rPr>
              <a:t>Balipay évite de manipuler directement les données carte au démarrage.</a:t>
            </a:r>
          </a:p>
        </p:txBody>
      </p:sp>
    </p:spTree>
    <p:extLst>
      <p:ext uri="{BB962C8B-B14F-4D97-AF65-F5344CB8AC3E}">
        <p14:creationId xmlns:p14="http://schemas.microsoft.com/office/powerpoint/2010/main" val="145885192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E398D1-CFB2-4D87-AD0A-EEF9F7DF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288CB3-7A88-48B5-9B5B-EA6D5A2BA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Dashboard commerçant et reporting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2193C1-A9D0-471E-9267-F3AD5FA1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0b7883c7304008"/>
          <a:srcRect xmlns:a="http://schemas.openxmlformats.org/drawingml/2006/main" l="23870" t="0" r="238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1524000"/>
            <a:ext cx="3714750" cy="4000500"/>
          </a:xfrm>
          <a:prstGeom xmlns:a="http://schemas.openxmlformats.org/drawingml/2006/main" prst="roundRect">
            <a:avLst>
              <a:gd name="adj" fmla="val 3077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B683AF-0770-4877-8DC3-80E7B9F36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5810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7068"/>
                </a:solidFill>
              </a:defRPr>
            </a:pPr>
            <a:r>
              <a:rPr sz="2100" b="0">
                <a:solidFill>
                  <a:srgbClr val="5E7068"/>
                </a:solidFill>
              </a:rPr>
              <a:t>Un espace clair pour suivre l’activité et gagner du temps chaque soir.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A12B9E-6387-4A77-8446-DE96EBE0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43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ABDC7D-6CD1-4E46-8D19-63DE6FB9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765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Chiffre d’affaires en temps réel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292995-A5F3-4A60-A3A1-33D1630D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C3BFB5-1794-40D7-845D-9E0548069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9908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Transactions et remboursements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51EAEA-655B-4C9B-8FFE-E18B97EB9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919DEE-A43B-4AA7-8F33-65461EC5A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052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Clôture journalière assistée par 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670E9-1538-454E-97CF-704B7B399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2CF677-DB69-4FC2-925D-E5C451EF7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01955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Exports comptables PDF/CSV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D6A3CE-106A-455D-B753-003FCC148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05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926C9D-BBF4-4965-90D0-6010301BC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533900"/>
            <a:ext cx="5638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Suivi multi-sites pour grandes enseignes</a:t>
            </a:r>
          </a:p>
        </p:txBody>
      </p:sp>
    </p:spTree>
    <p:extLst>
      <p:ext uri="{BB962C8B-B14F-4D97-AF65-F5344CB8AC3E}">
        <p14:creationId xmlns:p14="http://schemas.microsoft.com/office/powerpoint/2010/main" val="5755585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CD69720-BE6C-4165-B899-38884C64F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3CA8E6-5C82-41A7-B941-8DDF4267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Carte virtuelle Balipay Business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6064EA-CEA1-4D9B-8106-5091F49F2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E958E-3CFC-44F9-A939-284C60F0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7068"/>
                </a:solidFill>
              </a:defRPr>
            </a:pPr>
            <a:r>
              <a:rPr sz="2100" b="0">
                <a:solidFill>
                  <a:srgbClr val="5E7068"/>
                </a:solidFill>
              </a:rPr>
              <a:t>Une carte professionnelle pour simplifier les dépenses des commerçants.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0AA203-2158-489F-9897-9901DAB3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000250"/>
            <a:ext cx="3714750" cy="2190750"/>
          </a:xfrm>
          <a:prstGeom xmlns:a="http://schemas.openxmlformats.org/drawingml/2006/main" prst="roundRect">
            <a:avLst>
              <a:gd name="adj" fmla="val 5217"/>
            </a:avLst>
          </a:prstGeom>
          <a:solidFill xmlns:a="http://schemas.openxmlformats.org/drawingml/2006/main">
            <a:srgbClr val="126C58"/>
          </a:solidFill>
          <a:ln xmlns:a="http://schemas.openxmlformats.org/drawingml/2006/main" w="9525">
            <a:solidFill>
              <a:srgbClr val="126C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265DFE-F991-460A-B639-72B40BCFD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381250"/>
            <a:ext cx="3000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BALIPAY BUSINESS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C08527-1242-4690-8C3F-FC137AD7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19087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FFFFF"/>
                </a:solidFill>
              </a:defRPr>
            </a:pPr>
            <a:r>
              <a:rPr sz="2550" b="1">
                <a:solidFill>
                  <a:srgbClr val="FFFFFF"/>
                </a:solidFill>
              </a:rPr>
              <a:t>Virtual Card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5D8EED-6060-45FD-A1E7-A97E8C890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762375"/>
            <a:ext cx="209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8EFE7"/>
                </a:solidFill>
              </a:defRPr>
            </a:pPr>
            <a:r>
              <a:rPr sz="1650" b="0">
                <a:solidFill>
                  <a:srgbClr val="D8EFE7"/>
                </a:solidFill>
              </a:rPr>
              <a:t>****  2028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528845-9DA0-4FC5-B804-A740A6C4B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431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90435A-9240-4653-AD77-5EAC4645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Payer fournisseurs et abonnements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402FA7-AB28-4D1F-BD58-FC077BC9D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575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6E323C-1B5E-477E-A43C-86099F587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908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Séparer dépenses personnelles et professionnelles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1E6E9A-5737-4F44-84D1-DD6388A83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7187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5E5826-7E5C-4AC6-8E27-952E6F89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Suivre les dépenses dans le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12F8EA-D43B-45FC-B25C-5CEA4ACC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086225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36076-E58B-4C88-B4A4-5254AD027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019550"/>
            <a:ext cx="5162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Étape future avec partenaire financier</a:t>
            </a:r>
          </a:p>
        </p:txBody>
      </p:sp>
    </p:spTree>
    <p:extLst>
      <p:ext uri="{BB962C8B-B14F-4D97-AF65-F5344CB8AC3E}">
        <p14:creationId xmlns:p14="http://schemas.microsoft.com/office/powerpoint/2010/main" val="1897905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972E67-328D-4F59-A40F-7F0927C47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1698F-1F20-4C6A-B0D1-E34642071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Financement basé sur le chiffre d’affaires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D16C7D6-1617-446F-AC84-BEF159D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343395-4E89-4605-9E96-792847CE0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048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7068"/>
                </a:solidFill>
              </a:defRPr>
            </a:pPr>
            <a:r>
              <a:rPr sz="2025" b="0">
                <a:solidFill>
                  <a:srgbClr val="5E7068"/>
                </a:solidFill>
              </a:rPr>
              <a:t>Demain, Balipay pourra aider les commerçants à accéder à une avance ou un prêt, avec un partenaire financier.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728C39-1978-4ADD-B99C-E924F1BEA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AC1DC-A55F-4102-B4CD-54D92BF4C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00375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C58"/>
          </a:solidFill>
          <a:ln xmlns:a="http://schemas.openxmlformats.org/drawingml/2006/main" w="9525">
            <a:solidFill>
              <a:srgbClr val="126C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C991D-901B-4387-B148-3833A87DD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765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232FF-8A88-46BE-8865-14C4F4F9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76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1D"/>
                </a:solidFill>
              </a:defRPr>
            </a:pPr>
            <a:r>
              <a:rPr sz="1875" b="1">
                <a:solidFill>
                  <a:srgbClr val="14211D"/>
                </a:solidFill>
              </a:rPr>
              <a:t>Encaisser avec Balipay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380E55-50A4-4036-B238-76C33CDC3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00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68"/>
                </a:solidFill>
              </a:defRPr>
            </a:pPr>
            <a:r>
              <a:rPr sz="1350" b="0">
                <a:solidFill>
                  <a:srgbClr val="5E7068"/>
                </a:solidFill>
              </a:rPr>
              <a:t>Les ventes réelles créent un historique fiable.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E7DED3-7293-40FC-BFA3-9F7F3D6CB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2CB6FA-0A26-4FC0-834A-D05AA53D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00375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C58"/>
          </a:solidFill>
          <a:ln xmlns:a="http://schemas.openxmlformats.org/drawingml/2006/main" w="9525">
            <a:solidFill>
              <a:srgbClr val="126C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5AAABF-6866-4879-B3BF-F7E5DF4AA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765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CA51B-DC77-4753-904A-41902439C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476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1D"/>
                </a:solidFill>
              </a:defRPr>
            </a:pPr>
            <a:r>
              <a:rPr sz="1875" b="1">
                <a:solidFill>
                  <a:srgbClr val="14211D"/>
                </a:solidFill>
              </a:rPr>
              <a:t>Analyser l’activité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E96B02-D528-4AA7-B5DE-78C1FD63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000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68"/>
                </a:solidFill>
              </a:defRPr>
            </a:pPr>
            <a:r>
              <a:rPr sz="1350" b="0">
                <a:solidFill>
                  <a:srgbClr val="5E7068"/>
                </a:solidFill>
              </a:rPr>
              <a:t>Dashboard, régularité, saisonnalité et croissance.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D6930A-2D1A-436E-8841-A3FE38E34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667000"/>
            <a:ext cx="2857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D644AA-C55E-40B9-9A37-9D0503F8D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00375"/>
            <a:ext cx="51435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C58"/>
          </a:solidFill>
          <a:ln xmlns:a="http://schemas.openxmlformats.org/drawingml/2006/main" w="9525">
            <a:solidFill>
              <a:srgbClr val="126C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13C3BB-1182-474B-9F8F-62C0E9AB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76575"/>
            <a:ext cx="247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02FA48-126C-4269-8651-E4F4B693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228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211D"/>
                </a:solidFill>
              </a:defRPr>
            </a:pPr>
            <a:r>
              <a:rPr sz="1875" b="1">
                <a:solidFill>
                  <a:srgbClr val="14211D"/>
                </a:solidFill>
              </a:rPr>
              <a:t>Proposer une solution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EE9AA0-46DC-4CC6-8D16-DCE60E5EB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00500"/>
            <a:ext cx="2286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E7068"/>
                </a:solidFill>
              </a:defRPr>
            </a:pPr>
            <a:r>
              <a:rPr sz="1350" b="0">
                <a:solidFill>
                  <a:srgbClr val="5E7068"/>
                </a:solidFill>
              </a:rPr>
              <a:t>Avance de trésorerie ou financement via partenaire.</a:t>
            </a:r>
          </a:p>
        </p:txBody>
      </p:sp>
    </p:spTree>
    <p:extLst>
      <p:ext uri="{BB962C8B-B14F-4D97-AF65-F5344CB8AC3E}">
        <p14:creationId xmlns:p14="http://schemas.microsoft.com/office/powerpoint/2010/main" val="143120407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C5A3EF-AF98-420E-AC9C-CEAA359B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A5E9E4-4BB6-4E1E-A18D-DF06641A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Balipay Rewards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DE5C1C-DD62-4D00-BF92-0109055D2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D8902C-7132-43AF-9305-58D0F6389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52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7068"/>
                </a:solidFill>
              </a:defRPr>
            </a:pPr>
            <a:r>
              <a:rPr sz="2025" b="0">
                <a:solidFill>
                  <a:srgbClr val="5E7068"/>
                </a:solidFill>
              </a:rPr>
              <a:t>Des récompenses utiles pour les patrons chinois qui voyagent régulièrement entre l’Europe et la Chine.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B9845D-FB4F-40E6-B63F-385E7D96D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717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72C42D-E1DB-4FA5-8BF6-8A16CA1C9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098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4F42"/>
                </a:solidFill>
              </a:defRPr>
            </a:pPr>
            <a:r>
              <a:rPr sz="1875" b="1">
                <a:solidFill>
                  <a:srgbClr val="0C4F42"/>
                </a:solidFill>
              </a:rPr>
              <a:t>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C1793B3-7C1B-48CC-A2DF-FAD58341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800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Gagner des points avec l’activité Balipay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AD64F-2FA9-4DF1-BEF7-4028F16B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7175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B61E84-AD2D-499E-879B-AF66FCB3A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80987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4F42"/>
                </a:solidFill>
              </a:defRPr>
            </a:pPr>
            <a:r>
              <a:rPr sz="1875" b="1">
                <a:solidFill>
                  <a:srgbClr val="0C4F42"/>
                </a:solidFill>
              </a:rPr>
              <a:t>Voyage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2441A7B-79DB-411C-924C-4F7BABF9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003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Avantages vols Chine-Europe et hôtels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EA4FC-239A-4AB5-8FE6-F8D6EA158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1000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883CB-2085-4C52-8055-9F04BD3D8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481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4F42"/>
                </a:solidFill>
              </a:defRPr>
            </a:pPr>
            <a:r>
              <a:rPr sz="1875" b="1">
                <a:solidFill>
                  <a:srgbClr val="0C4F42"/>
                </a:solidFill>
              </a:rPr>
              <a:t>Aéroport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284928-4D55-4FBA-8D9B-281546DDE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038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Salons privés dans les aéroports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67007C-9B6A-410C-8DDD-AD6E086D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810000"/>
            <a:ext cx="47625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3DED77-64EF-4EC8-BA9B-98B764AD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48125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C4F42"/>
                </a:solidFill>
              </a:defRPr>
            </a:pPr>
            <a:r>
              <a:rPr sz="1875" b="1">
                <a:solidFill>
                  <a:srgbClr val="0C4F42"/>
                </a:solidFill>
              </a:rPr>
              <a:t>Statuts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B0B42C-5876-4279-BB4C-B56CBC8EE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03860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Silver, Gold, Platinum pour fidéliser</a:t>
            </a:r>
          </a:p>
        </p:txBody>
      </p:sp>
    </p:spTree>
    <p:extLst>
      <p:ext uri="{BB962C8B-B14F-4D97-AF65-F5344CB8AC3E}">
        <p14:creationId xmlns:p14="http://schemas.microsoft.com/office/powerpoint/2010/main" val="15747435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277C832-C7DD-4AEA-8797-1C90B3BF1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18EDFF-62F3-46BF-96A3-639A9D2D6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Commission compétitive et service bilingue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A3F8F3-3464-4805-9DC3-ECA1A282D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CAE802-9934-40EA-B623-3FDB7EF62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7068"/>
                </a:solidFill>
              </a:defRPr>
            </a:pPr>
            <a:r>
              <a:rPr sz="2025" b="0">
                <a:solidFill>
                  <a:srgbClr val="5E7068"/>
                </a:solidFill>
              </a:rPr>
              <a:t>Notre objectif : une commission plus basse, une tarification claire et un accompagnement adapté aux commerçants chinois.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F77AC9-F0CD-4357-A935-8F094FA5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71750"/>
            <a:ext cx="4381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0185B5-C940-437B-9BC7-27BAF9157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0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C4F42"/>
                </a:solidFill>
              </a:defRPr>
            </a:pPr>
            <a:r>
              <a:rPr sz="2400" b="1">
                <a:solidFill>
                  <a:srgbClr val="0C4F42"/>
                </a:solidFill>
              </a:rPr>
              <a:t>Moins de frais cachés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C1862-4221-4B66-8320-C900451A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6712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11D"/>
                </a:solidFill>
              </a:defRPr>
            </a:pPr>
            <a:r>
              <a:rPr sz="1650" b="0">
                <a:solidFill>
                  <a:srgbClr val="14211D"/>
                </a:solidFill>
              </a:rPr>
              <a:t>Une offre simple : paiement, dashboard, support et services Pro.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E6FAA-4B0C-47CC-B01A-DE160D21D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571750"/>
            <a:ext cx="4381500" cy="2095500"/>
          </a:xfrm>
          <a:prstGeom xmlns:a="http://schemas.openxmlformats.org/drawingml/2006/main" prst="roundRect">
            <a:avLst>
              <a:gd name="adj" fmla="val 54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2E6EA8-A060-4205-A896-B905FD655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00375"/>
            <a:ext cx="381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0C4F42"/>
                </a:solidFill>
              </a:defRPr>
            </a:pPr>
            <a:r>
              <a:rPr sz="2400" b="1">
                <a:solidFill>
                  <a:srgbClr val="0C4F42"/>
                </a:solidFill>
              </a:rPr>
              <a:t>Support français / chinois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289CA-9212-48F5-B4D2-45C6B6AE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366712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4211D"/>
                </a:solidFill>
              </a:defRPr>
            </a:pPr>
            <a:r>
              <a:rPr sz="1650" b="0">
                <a:solidFill>
                  <a:srgbClr val="14211D"/>
                </a:solidFill>
              </a:rPr>
              <a:t>Installation, formation, suivi et aide au quotidien.</a:t>
            </a:r>
          </a:p>
        </p:txBody>
      </p:sp>
    </p:spTree>
    <p:extLst>
      <p:ext uri="{BB962C8B-B14F-4D97-AF65-F5344CB8AC3E}">
        <p14:creationId xmlns:p14="http://schemas.microsoft.com/office/powerpoint/2010/main" val="1596869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8098BD-BC32-4D35-AFBB-201888376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BAF786-4AC8-4170-AACA-FF319037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Clients ciblés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CDC85-7B17-4124-BAA7-047CCF5EF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C12CA-5ECE-4EC2-A9FF-2CD2F9A30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9429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E7068"/>
                </a:solidFill>
              </a:defRPr>
            </a:pPr>
            <a:r>
              <a:rPr sz="2025" b="0">
                <a:solidFill>
                  <a:srgbClr val="5E7068"/>
                </a:solidFill>
              </a:rPr>
              <a:t>Balipay s’adresse aux commerces qui reçoivent une clientèle chinoise, touristique et premium.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9DD7E3-5E22-4711-96BC-B73072107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33625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C7359F-B082-4878-A3AE-20A81956A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14600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D"/>
                </a:solidFill>
              </a:defRPr>
            </a:pPr>
            <a:r>
              <a:rPr sz="1500" b="1">
                <a:solidFill>
                  <a:srgbClr val="14211D"/>
                </a:solidFill>
              </a:rPr>
              <a:t>Restaurants &amp; épiceries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AAF931-ACD9-43E8-AE2E-479E087C1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333625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4A911A-7A3D-4F0D-A51D-CE19C7BDA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514600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D"/>
                </a:solidFill>
              </a:defRPr>
            </a:pPr>
            <a:r>
              <a:rPr sz="1500" b="1">
                <a:solidFill>
                  <a:srgbClr val="14211D"/>
                </a:solidFill>
              </a:rPr>
              <a:t>Hôtels de luxe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44A119-CE76-4775-9368-3A798BCE9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333625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275994-FA0B-40D8-8ED7-EBE2B9877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14600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D"/>
                </a:solidFill>
              </a:defRPr>
            </a:pPr>
            <a:r>
              <a:rPr sz="1500" b="1">
                <a:solidFill>
                  <a:srgbClr val="14211D"/>
                </a:solidFill>
              </a:rPr>
              <a:t>Grands magasins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B72CEA-066A-4EEF-90E0-72FCA77E4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2333625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43672A-273C-4A0B-86EA-DA39F2DB1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514600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D"/>
                </a:solidFill>
              </a:defRPr>
            </a:pPr>
            <a:r>
              <a:rPr sz="1500" b="1">
                <a:solidFill>
                  <a:srgbClr val="14211D"/>
                </a:solidFill>
              </a:rPr>
              <a:t>Pâtisseries premium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9C01DA7-BA9A-43C6-A28E-E2885F694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60F942-BFB5-4C42-8803-0569CB0F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05225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D"/>
                </a:solidFill>
              </a:defRPr>
            </a:pPr>
            <a:r>
              <a:rPr sz="1500" b="1">
                <a:solidFill>
                  <a:srgbClr val="14211D"/>
                </a:solidFill>
              </a:rPr>
              <a:t>Cosmétiques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C825CD-87BD-4EA8-AE06-D56600E4B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52425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210587D-4127-4A7F-A92D-CC7F566BA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705225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D"/>
                </a:solidFill>
              </a:defRPr>
            </a:pPr>
            <a:r>
              <a:rPr sz="1500" b="1">
                <a:solidFill>
                  <a:srgbClr val="14211D"/>
                </a:solidFill>
              </a:rPr>
              <a:t>Transport &amp; mobilité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173CEB-A10C-4F47-AF46-CB782A4FE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52425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AC8700-476B-4059-B10D-25799B472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705225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D"/>
                </a:solidFill>
              </a:defRPr>
            </a:pPr>
            <a:r>
              <a:rPr sz="1500" b="1">
                <a:solidFill>
                  <a:srgbClr val="14211D"/>
                </a:solidFill>
              </a:rPr>
              <a:t>Duty free &amp; tourisme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7A15A0A-AF24-48A7-BDEB-BA046AF06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24925" y="3524250"/>
            <a:ext cx="2238375" cy="781050"/>
          </a:xfrm>
          <a:prstGeom xmlns:a="http://schemas.openxmlformats.org/drawingml/2006/main" prst="roundRect">
            <a:avLst>
              <a:gd name="adj" fmla="val 14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4DE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3DC19E-F63C-43F8-87D8-6405F999B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3705225"/>
            <a:ext cx="18954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4211D"/>
                </a:solidFill>
              </a:defRPr>
            </a:pPr>
            <a:r>
              <a:rPr sz="1500" b="1">
                <a:solidFill>
                  <a:srgbClr val="14211D"/>
                </a:solidFill>
              </a:rPr>
              <a:t>Grandes entreprises</a:t>
            </a:r>
          </a:p>
        </p:txBody>
      </p:sp>
    </p:spTree>
    <p:extLst>
      <p:ext uri="{BB962C8B-B14F-4D97-AF65-F5344CB8AC3E}">
        <p14:creationId xmlns:p14="http://schemas.microsoft.com/office/powerpoint/2010/main" val="198053305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33A0EE-A4E6-48A5-8675-79788BEF8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BCF9CA9-5CB4-4D61-8082-ED89B7DB1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Offre pilote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F6D099-30D7-43CA-895E-F49280EA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C04A0B-C2D5-4F84-A083-FAD63A075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5E7068"/>
                </a:solidFill>
              </a:defRPr>
            </a:pPr>
            <a:r>
              <a:rPr sz="2100" b="0">
                <a:solidFill>
                  <a:srgbClr val="5E7068"/>
                </a:solidFill>
              </a:rPr>
              <a:t>Une entrée simple pour les premiers commerçants : tester Balipay sans complexité.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F51B31E-2B7A-49A5-AB23-7EFE345E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95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2C182F-0751-4B10-AE82-B297F39E5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4288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Installation accompagnée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BF0D36B-BA10-4B72-AC96-E82B9F2BD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955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E46BBB3-1BF3-4B04-80E3-F5637643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4288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TPE / QR selon besoin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345976-0447-4344-A66A-F6952D512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692C19-6581-4F5B-9DB7-C8C29D39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1337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Dashboard commerçant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AFEA21-7394-4F5E-B045-59C538A2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20040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4932F9-2994-4E68-B196-CDABB7E8B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13372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Support bilingue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0DAF222-832B-4FB6-B180-74A95FA60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BA1E2-BDEF-4333-9F1D-B63B3740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8385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Tarif pilote compétitif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1AD5F1-0F6D-4618-9405-5BB2AF381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6C58"/>
          </a:solidFill>
          <a:ln xmlns:a="http://schemas.openxmlformats.org/drawingml/2006/main" w="0">
            <a:solidFill>
              <a:srgbClr val="126C5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31A242-5135-4B7F-9CF2-E456C50FC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838575"/>
            <a:ext cx="4019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4211D"/>
                </a:solidFill>
              </a:defRPr>
            </a:pPr>
            <a:r>
              <a:rPr sz="1500" b="0">
                <a:solidFill>
                  <a:srgbClr val="14211D"/>
                </a:solidFill>
              </a:rPr>
              <a:t>Retour terrain prioritaire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11B87B-CC52-4FB7-95E9-62A0D1371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5334000"/>
            <a:ext cx="4572000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26C58"/>
          </a:solidFill>
          <a:ln xmlns:a="http://schemas.openxmlformats.org/drawingml/2006/main" w="9525">
            <a:solidFill>
              <a:srgbClr val="126C5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BF619F-C029-47D8-8833-4ACDEC44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410200"/>
            <a:ext cx="430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Objectif : premiers commerçants ambassadeurs</a:t>
            </a:r>
          </a:p>
        </p:txBody>
      </p:sp>
    </p:spTree>
    <p:extLst>
      <p:ext uri="{BB962C8B-B14F-4D97-AF65-F5344CB8AC3E}">
        <p14:creationId xmlns:p14="http://schemas.microsoft.com/office/powerpoint/2010/main" val="69924215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AF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BF1DDDB-27E1-487F-8E09-DDD749350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19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26C58"/>
                </a:solidFill>
              </a:defRPr>
            </a:pPr>
            <a:r>
              <a:rPr sz="975" b="1">
                <a:solidFill>
                  <a:srgbClr val="126C58"/>
                </a:solidFill>
              </a:rPr>
              <a:t>BALIPAY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B6D96-80B1-4BB0-97EF-3F5CB6B7C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66750"/>
            <a:ext cx="876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4211D"/>
                </a:solidFill>
              </a:defRPr>
            </a:pPr>
            <a:r>
              <a:rPr sz="2850" b="1">
                <a:solidFill>
                  <a:srgbClr val="14211D"/>
                </a:solidFill>
              </a:rPr>
              <a:t>Prochaine étape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D3AED-E4F6-45FA-B1BA-8243311FB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38250"/>
            <a:ext cx="1066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B88A3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DAB8BD-1E07-4EEA-BB68-40C7918DC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571625"/>
            <a:ext cx="10096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625" b="1">
                <a:solidFill>
                  <a:srgbClr val="14211D"/>
                </a:solidFill>
              </a:defRPr>
            </a:pPr>
            <a:r>
              <a:rPr sz="2625" b="1">
                <a:solidFill>
                  <a:srgbClr val="14211D"/>
                </a:solidFill>
              </a:rPr>
              <a:t>Rejoindre Balipay, c’est participer à la construction d’un nouveau pont de paiement entre la Chine et l’Europe.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2C45DC-93F7-4851-902A-CCFF0DCBA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143250"/>
            <a:ext cx="72390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EAF5EF"/>
          </a:solidFill>
          <a:ln xmlns:a="http://schemas.openxmlformats.org/drawingml/2006/main" w="9525">
            <a:solidFill>
              <a:srgbClr val="EAF5EF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F1DA23-A1D0-482E-9A3F-45F68D6D1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76625"/>
            <a:ext cx="638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C4F42"/>
                </a:solidFill>
              </a:defRPr>
            </a:pPr>
            <a:r>
              <a:rPr sz="2100" b="1">
                <a:solidFill>
                  <a:srgbClr val="0C4F42"/>
                </a:solidFill>
              </a:rPr>
              <a:t>Étape suivante : entretien commerçant, choix de l’offre pilote, installation et premier encaissement.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82D053-7BA2-4514-B7BF-021D8E263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91125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0C4F42"/>
                </a:solidFill>
              </a:defRPr>
            </a:pPr>
            <a:r>
              <a:rPr sz="2100" b="1">
                <a:solidFill>
                  <a:srgbClr val="0C4F42"/>
                </a:solidFill>
              </a:rPr>
              <a:t>Balipay — Votre passerelle entre la Chine et l’Europe</a:t>
            </a:r>
          </a:p>
        </p:txBody>
      </p:sp>
    </p:spTree>
    <p:extLst>
      <p:ext uri="{BB962C8B-B14F-4D97-AF65-F5344CB8AC3E}">
        <p14:creationId xmlns:p14="http://schemas.microsoft.com/office/powerpoint/2010/main" val="163245243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2026-06-20T14:27:00.9140000Z</dcterms:created>
  <dcterms:modified xsi:type="dcterms:W3CDTF">2026-06-20T14:27:00.9140000Z</dcterms:modified>
</coreProperties>
</file>